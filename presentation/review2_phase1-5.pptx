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as the first half of a ten-phase platform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business and technical motivation, then preview the platform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data engineering and leakage prevention are part of the model foundation.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PR-AUC, recall, and alert workload matter more than accuracy in this rare-event setting.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streaming test as a controlled 1,000-message verification, not a full-dataset production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the system now persists the model output and exposes it through an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Neo4j does not replace PostgreSQL; it adds relationship-oriented investigation capability.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main architecture slide. Use it to connect all completed phases into one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Separate measured verification from future functionality. This is the evidence slide for Review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builds credibility by clearly distinguishing a verified prototype foundation from production readiness.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next half adds intelligence and user experience on top of the completed data foundation.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stating that Review 2 delivers a tested prototype foundation, with the investigation intelligence layer as the next milestone.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02920"/>
            <a:ext cx="1143000" cy="114300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1170432"/>
            <a:ext cx="475488" cy="475488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81160" y="1627632"/>
            <a:ext cx="292608" cy="292608"/>
          </a:xfrm>
          <a:prstGeom prst="ellipse">
            <a:avLst/>
          </a:prstGeom>
          <a:solidFill>
            <a:srgbClr val="F06C5B"/>
          </a:solidFill>
          <a:ln w="12700">
            <a:solidFill>
              <a:srgbClr val="F06C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4206240"/>
            <a:ext cx="3703320" cy="-3108960"/>
          </a:xfrm>
          <a:prstGeom prst="line">
            <a:avLst/>
          </a:prstGeom>
          <a:noFill/>
          <a:ln w="15240">
            <a:solidFill>
              <a:srgbClr val="5EEAD4"/>
            </a:solidFill>
            <a:prstDash val="dash"/>
            <a:headEnd type="none"/>
            <a:tailEnd type="none"/>
          </a:ln>
        </p:spPr>
      </p:sp>
      <p:sp>
        <p:nvSpPr>
          <p:cNvPr id="6" name="Text 4"/>
          <p:cNvSpPr txBox="1"/>
          <p:nvPr/>
        </p:nvSpPr>
        <p:spPr>
          <a:xfrm>
            <a:off x="640080" y="640080"/>
            <a:ext cx="59436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80" kern="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2  /  PHASES 1–5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234440"/>
            <a:ext cx="813816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Platform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Real-Time Banking Fraud Detection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926080"/>
            <a:ext cx="70408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6D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transaction data to machine learning, streaming alerts, persistence, and financial relationship graphs.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4069080"/>
            <a:ext cx="4480560" cy="310896"/>
          </a:xfrm>
          <a:prstGeom prst="roundRect">
            <a:avLst>
              <a:gd name="adj" fmla="val 23529"/>
            </a:avLst>
          </a:prstGeom>
          <a:solidFill>
            <a:srgbClr val="E3F7F5"/>
          </a:solidFill>
          <a:ln w="12700">
            <a:solidFill>
              <a:srgbClr val="E3F7F5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137660"/>
            <a:ext cx="433425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→ ML → STREAMING → DATABASE → GRAPH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5925312"/>
            <a:ext cx="2743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Annam Akash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6236208"/>
            <a:ext cx="5303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8D1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 AML and financial forensics foundation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519672"/>
            <a:ext cx="5943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B8D1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BANKING FRAUD PLATFORM  /  REVIEW 2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201400" y="6483096"/>
            <a:ext cx="457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D1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47472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/  CONTEXT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platform is needed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19672"/>
            <a:ext cx="5943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BANKING FRAUD PLATFORM  /  REVIEW 2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83096"/>
            <a:ext cx="457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74980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Banking AML monitoring must move from isolated risk scores to explainable, connected evidence.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224028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E7F0F6"/>
          </a:solidFill>
          <a:ln w="12700">
            <a:solidFill>
              <a:srgbClr val="E7F0F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468880"/>
            <a:ext cx="292608" cy="29260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500884"/>
            <a:ext cx="29260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450592"/>
            <a:ext cx="23317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volume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770632"/>
            <a:ext cx="23317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Millions of transactions make manual review impractical.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224028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FFF5D8"/>
          </a:solidFill>
          <a:ln w="12700">
            <a:solidFill>
              <a:srgbClr val="FFF5D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2468880"/>
            <a:ext cx="292608" cy="292608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26280" y="2500884"/>
            <a:ext cx="29260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2450592"/>
            <a:ext cx="23317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Severe imbalance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983480" y="2770632"/>
            <a:ext cx="23317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Laundering events are rare, so accuracy alone is misleading.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374904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E3F7F5"/>
          </a:solidFill>
          <a:ln w="12700">
            <a:solidFill>
              <a:srgbClr val="E3F7F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977640"/>
            <a:ext cx="292608" cy="292608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009644"/>
            <a:ext cx="29260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959352"/>
            <a:ext cx="23317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Hidden relationships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4279392"/>
            <a:ext cx="23317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Suspicious activity can span accounts, banks, and multiple hops.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0" y="374904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FDEAE7"/>
          </a:solidFill>
          <a:ln w="12700">
            <a:solidFill>
              <a:srgbClr val="FDEAE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26280" y="3977640"/>
            <a:ext cx="292608" cy="292608"/>
          </a:xfrm>
          <a:prstGeom prst="ellipse">
            <a:avLst/>
          </a:prstGeom>
          <a:solidFill>
            <a:srgbClr val="F06C5B"/>
          </a:solidFill>
          <a:ln w="12700">
            <a:solidFill>
              <a:srgbClr val="F06C5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26280" y="4009644"/>
            <a:ext cx="29260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983480" y="3959352"/>
            <a:ext cx="23317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Investigator needs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983480" y="4279392"/>
            <a:ext cx="23317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useful alert must be stored, connected, and explainable.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366760" y="1481328"/>
            <a:ext cx="3200400" cy="4160520"/>
          </a:xfrm>
          <a:prstGeom prst="roundRect">
            <a:avLst>
              <a:gd name="adj" fmla="val 2286"/>
            </a:avLst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732520" y="1856232"/>
            <a:ext cx="24231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OBJECTIVE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304288"/>
            <a:ext cx="2240280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score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persist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connect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investigate</a:t>
            </a:r>
            <a:endParaRPr lang="en-US" sz="25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4892040"/>
            <a:ext cx="24231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6D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modular foundation for human-in-the-loop AML investigation.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47472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/  PHASE 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foundation: making AML data usable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19672"/>
            <a:ext cx="5943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BANKING FRAUD PLATFORM  /  REVIEW 2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83096"/>
            <a:ext cx="457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17320"/>
            <a:ext cx="82296" cy="132588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86968" y="1618488"/>
            <a:ext cx="21031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5.08M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886968" y="2258568"/>
            <a:ext cx="21031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transactions inspected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41732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417320"/>
            <a:ext cx="82296" cy="132588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30168" y="1618488"/>
            <a:ext cx="21031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518,581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3630168" y="2258568"/>
            <a:ext cx="21031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accounts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41732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417320"/>
            <a:ext cx="82296" cy="1325880"/>
          </a:xfrm>
          <a:prstGeom prst="rect">
            <a:avLst/>
          </a:prstGeom>
          <a:solidFill>
            <a:srgbClr val="F06C5B"/>
          </a:solidFill>
          <a:ln w="12700">
            <a:solidFill>
              <a:srgbClr val="F06C5B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73368" y="1618488"/>
            <a:ext cx="21031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5,177</a:t>
            </a:r>
            <a:endParaRPr lang="en-US" sz="2700" dirty="0"/>
          </a:p>
        </p:txBody>
      </p:sp>
      <p:sp>
        <p:nvSpPr>
          <p:cNvPr id="17" name="Text 15"/>
          <p:cNvSpPr txBox="1"/>
          <p:nvPr/>
        </p:nvSpPr>
        <p:spPr>
          <a:xfrm>
            <a:off x="6373368" y="2258568"/>
            <a:ext cx="21031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laundering transactions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869680" y="141732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69680" y="1417320"/>
            <a:ext cx="82296" cy="132588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16568" y="1618488"/>
            <a:ext cx="21031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0.101943%</a:t>
            </a:r>
            <a:endParaRPr lang="en-US" sz="2700" dirty="0"/>
          </a:p>
        </p:txBody>
      </p:sp>
      <p:sp>
        <p:nvSpPr>
          <p:cNvPr id="21" name="Text 19"/>
          <p:cNvSpPr txBox="1"/>
          <p:nvPr/>
        </p:nvSpPr>
        <p:spPr>
          <a:xfrm>
            <a:off x="9116568" y="2258568"/>
            <a:ext cx="21031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laundering rate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154680"/>
            <a:ext cx="507492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3456432"/>
            <a:ext cx="2377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WORK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3840480"/>
            <a:ext cx="443484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7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Chunked processing for the large CSV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7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schema normalization and cleaning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7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Timestamp, amount, date, and hour features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7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Identifiers preserved as strings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7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data excluded from GitHub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080760" y="3154680"/>
            <a:ext cx="5303520" cy="2240280"/>
          </a:xfrm>
          <a:prstGeom prst="roundRect">
            <a:avLst>
              <a:gd name="adj" fmla="val 3265"/>
            </a:avLst>
          </a:prstGeom>
          <a:solidFill>
            <a:srgbClr val="E3F7F5"/>
          </a:solidFill>
          <a:ln w="12700">
            <a:solidFill>
              <a:srgbClr val="E3F7F5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82512" y="3456432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CONTRACT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382512" y="3886200"/>
            <a:ext cx="45262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Laundering is used for offline training and evaluation only.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382512" y="4617720"/>
            <a:ext cx="42976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prediction does not depend on the target label being present.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47472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/  PHASE 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learning: risk scoring under imbalance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19672"/>
            <a:ext cx="5943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BANKING FRAUD PLATFORM  /  REVIEW 2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83096"/>
            <a:ext cx="457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53312"/>
            <a:ext cx="65836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supervised models were compared using metrics that reflect AML alert quality.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2240280" cy="1280160"/>
          </a:xfrm>
          <a:prstGeom prst="roundRect">
            <a:avLst>
              <a:gd name="adj" fmla="val 5714"/>
            </a:avLst>
          </a:prstGeom>
          <a:solidFill>
            <a:srgbClr val="E7F0F6"/>
          </a:solidFill>
          <a:ln w="12700">
            <a:solidFill>
              <a:srgbClr val="E7F0F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2331720"/>
            <a:ext cx="329184" cy="3291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41832" y="2395728"/>
            <a:ext cx="32918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389888" y="2267712"/>
            <a:ext cx="1371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89888" y="2633472"/>
            <a:ext cx="1280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interpretable baseline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2057400"/>
            <a:ext cx="2240280" cy="1280160"/>
          </a:xfrm>
          <a:prstGeom prst="roundRect">
            <a:avLst>
              <a:gd name="adj" fmla="val 5714"/>
            </a:avLst>
          </a:prstGeom>
          <a:solidFill>
            <a:srgbClr val="FFF5D8"/>
          </a:solidFill>
          <a:ln w="12700">
            <a:solidFill>
              <a:srgbClr val="FFF5D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47872" y="2331720"/>
            <a:ext cx="329184" cy="329184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47872" y="2395728"/>
            <a:ext cx="32918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995928" y="2267712"/>
            <a:ext cx="1371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995928" y="2633472"/>
            <a:ext cx="1280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nonlinear ensemble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2057400"/>
            <a:ext cx="2240280" cy="1280160"/>
          </a:xfrm>
          <a:prstGeom prst="roundRect">
            <a:avLst>
              <a:gd name="adj" fmla="val 5714"/>
            </a:avLst>
          </a:prstGeom>
          <a:solidFill>
            <a:srgbClr val="E3F7F5"/>
          </a:solidFill>
          <a:ln w="12700">
            <a:solidFill>
              <a:srgbClr val="E3F7F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53912" y="2331720"/>
            <a:ext cx="329184" cy="329184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53912" y="2395728"/>
            <a:ext cx="32918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601968" y="2267712"/>
            <a:ext cx="1371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XGBoost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601968" y="2633472"/>
            <a:ext cx="12801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model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732520" y="155448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052560" y="1856232"/>
            <a:ext cx="1828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052560" y="2240280"/>
            <a:ext cx="19202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XGBoost</a:t>
            </a:r>
            <a:endParaRPr lang="en-US" sz="2700" dirty="0"/>
          </a:p>
        </p:txBody>
      </p:sp>
      <p:sp>
        <p:nvSpPr>
          <p:cNvPr id="25" name="Text 23"/>
          <p:cNvSpPr txBox="1"/>
          <p:nvPr/>
        </p:nvSpPr>
        <p:spPr>
          <a:xfrm>
            <a:off x="9052560" y="2898648"/>
            <a:ext cx="19659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PR-AUC  0.3456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052560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6D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CUDA training succeeded; CPU fallback retained.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4069080"/>
            <a:ext cx="3931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10" kern="0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PROVISIONAL OPERATIONAL THRESHOLD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4389120"/>
            <a:ext cx="12344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0.55</a:t>
            </a:r>
            <a:endParaRPr lang="en-US" sz="3400" dirty="0"/>
          </a:p>
        </p:txBody>
      </p:sp>
      <p:sp>
        <p:nvSpPr>
          <p:cNvPr id="29" name="Text 27"/>
          <p:cNvSpPr txBox="1"/>
          <p:nvPr/>
        </p:nvSpPr>
        <p:spPr>
          <a:xfrm>
            <a:off x="1965960" y="4416552"/>
            <a:ext cx="56692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to meet the current recall target. It is an operational starting point—not a final production calibration.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47472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/  PHASE 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streaming with Kafka-compatible infrastructure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19672"/>
            <a:ext cx="5943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BANKING FRAUD PLATFORM  /  REVIEW 2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83096"/>
            <a:ext cx="457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98448"/>
            <a:ext cx="89611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trained model was connected to a live transaction stream using Redpanda as the local Kafka-compatible broker.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1938528"/>
            <a:ext cx="2558034" cy="731520"/>
          </a:xfrm>
          <a:prstGeom prst="roundRect">
            <a:avLst>
              <a:gd name="adj" fmla="val 10000"/>
            </a:avLst>
          </a:prstGeom>
          <a:solidFill>
            <a:srgbClr val="E7F0F6"/>
          </a:solidFill>
          <a:ln w="12700">
            <a:solidFill>
              <a:srgbClr val="D9E5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2139696"/>
            <a:ext cx="241173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AML CSV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266694" y="2148840"/>
            <a:ext cx="15544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45002" y="1938528"/>
            <a:ext cx="2558034" cy="731520"/>
          </a:xfrm>
          <a:prstGeom prst="roundRect">
            <a:avLst>
              <a:gd name="adj" fmla="val 10000"/>
            </a:avLst>
          </a:prstGeom>
          <a:solidFill>
            <a:srgbClr val="E7F0F6"/>
          </a:solidFill>
          <a:ln w="12700">
            <a:solidFill>
              <a:srgbClr val="D9E5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18154" y="2139696"/>
            <a:ext cx="241173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025896" y="2148840"/>
            <a:ext cx="15544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04204" y="1938528"/>
            <a:ext cx="2558034" cy="731520"/>
          </a:xfrm>
          <a:prstGeom prst="roundRect">
            <a:avLst>
              <a:gd name="adj" fmla="val 10000"/>
            </a:avLst>
          </a:prstGeom>
          <a:solidFill>
            <a:srgbClr val="E7F0F6"/>
          </a:solidFill>
          <a:ln w="12700">
            <a:solidFill>
              <a:srgbClr val="D9E5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77356" y="2139696"/>
            <a:ext cx="241173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aml.transactions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785098" y="2148840"/>
            <a:ext cx="15544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963406" y="1938528"/>
            <a:ext cx="2558034" cy="731520"/>
          </a:xfrm>
          <a:prstGeom prst="roundRect">
            <a:avLst>
              <a:gd name="adj" fmla="val 10000"/>
            </a:avLst>
          </a:prstGeom>
          <a:solidFill>
            <a:srgbClr val="E3F7F5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36558" y="2139696"/>
            <a:ext cx="241173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 + XGBoost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377440" y="2743200"/>
            <a:ext cx="0" cy="41148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5669280" y="2743200"/>
            <a:ext cx="0" cy="41148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8915400" y="2743200"/>
            <a:ext cx="0" cy="41148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1051560" y="315468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E3F7F5"/>
          </a:solidFill>
          <a:ln w="12700">
            <a:solidFill>
              <a:srgbClr val="E3F7F5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325880" y="3456432"/>
            <a:ext cx="2194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aml.predictions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434840" y="315468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FFF5D8"/>
          </a:solidFill>
          <a:ln w="12700">
            <a:solidFill>
              <a:srgbClr val="FFF5D8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09160" y="3456432"/>
            <a:ext cx="2194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aml.alerts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818120" y="315468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FDEAE7"/>
          </a:solidFill>
          <a:ln w="12700">
            <a:solidFill>
              <a:srgbClr val="FDEAE7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92440" y="3456432"/>
            <a:ext cx="2194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aml.dead_letter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14400" y="470916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" y="4709160"/>
            <a:ext cx="82296" cy="1051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161288" y="4910328"/>
            <a:ext cx="21488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1,000</a:t>
            </a:r>
            <a:endParaRPr lang="en-US" sz="2700" dirty="0"/>
          </a:p>
        </p:txBody>
      </p:sp>
      <p:sp>
        <p:nvSpPr>
          <p:cNvPr id="30" name="Text 28"/>
          <p:cNvSpPr txBox="1"/>
          <p:nvPr/>
        </p:nvSpPr>
        <p:spPr>
          <a:xfrm>
            <a:off x="1161288" y="5550408"/>
            <a:ext cx="21488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886200" y="470916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86200" y="4709160"/>
            <a:ext cx="82296" cy="105156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133088" y="4910328"/>
            <a:ext cx="21488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1,000</a:t>
            </a:r>
            <a:endParaRPr lang="en-US" sz="2700" dirty="0"/>
          </a:p>
        </p:txBody>
      </p:sp>
      <p:sp>
        <p:nvSpPr>
          <p:cNvPr id="34" name="Text 32"/>
          <p:cNvSpPr txBox="1"/>
          <p:nvPr/>
        </p:nvSpPr>
        <p:spPr>
          <a:xfrm>
            <a:off x="4133088" y="5550408"/>
            <a:ext cx="21488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58000" y="470916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58000" y="4709160"/>
            <a:ext cx="82296" cy="1051560"/>
          </a:xfrm>
          <a:prstGeom prst="rect">
            <a:avLst/>
          </a:prstGeom>
          <a:solidFill>
            <a:srgbClr val="1F9D72"/>
          </a:solidFill>
          <a:ln w="12700">
            <a:solidFill>
              <a:srgbClr val="1F9D72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104888" y="4910328"/>
            <a:ext cx="21488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2700" dirty="0"/>
          </a:p>
        </p:txBody>
      </p:sp>
      <p:sp>
        <p:nvSpPr>
          <p:cNvPr id="38" name="Text 36"/>
          <p:cNvSpPr txBox="1"/>
          <p:nvPr/>
        </p:nvSpPr>
        <p:spPr>
          <a:xfrm>
            <a:off x="7104888" y="5550408"/>
            <a:ext cx="21488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dead-letter records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9738360" y="4864608"/>
            <a:ext cx="15087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Offsets are committed only after successful scoring and output publication.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47472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/  PHASE 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and PostgreSQL: turning scores into durable alerts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19672"/>
            <a:ext cx="5943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BANKING FRAUD PLATFORM  /  REVIEW 2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83096"/>
            <a:ext cx="457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2546604" cy="731520"/>
          </a:xfrm>
          <a:prstGeom prst="roundRect">
            <a:avLst>
              <a:gd name="adj" fmla="val 10000"/>
            </a:avLst>
          </a:prstGeom>
          <a:solidFill>
            <a:srgbClr val="E7F0F6"/>
          </a:solidFill>
          <a:ln w="12700">
            <a:solidFill>
              <a:srgbClr val="D9E5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" y="1618488"/>
            <a:ext cx="24003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Kafka consumer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255264" y="1627632"/>
            <a:ext cx="15544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33572" y="1417320"/>
            <a:ext cx="2546604" cy="731520"/>
          </a:xfrm>
          <a:prstGeom prst="roundRect">
            <a:avLst>
              <a:gd name="adj" fmla="val 10000"/>
            </a:avLst>
          </a:prstGeom>
          <a:solidFill>
            <a:srgbClr val="E7F0F6"/>
          </a:solidFill>
          <a:ln w="12700">
            <a:solidFill>
              <a:srgbClr val="D9E5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06724" y="1618488"/>
            <a:ext cx="24003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/predictions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003036" y="1627632"/>
            <a:ext cx="15544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81344" y="1417320"/>
            <a:ext cx="2546604" cy="731520"/>
          </a:xfrm>
          <a:prstGeom prst="roundRect">
            <a:avLst>
              <a:gd name="adj" fmla="val 10000"/>
            </a:avLst>
          </a:prstGeom>
          <a:solidFill>
            <a:srgbClr val="E7F0F6"/>
          </a:solidFill>
          <a:ln w="12700">
            <a:solidFill>
              <a:srgbClr val="D9E5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54496" y="1618488"/>
            <a:ext cx="24003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750808" y="1627632"/>
            <a:ext cx="15544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929116" y="1417320"/>
            <a:ext cx="2546604" cy="731520"/>
          </a:xfrm>
          <a:prstGeom prst="roundRect">
            <a:avLst>
              <a:gd name="adj" fmla="val 10000"/>
            </a:avLst>
          </a:prstGeom>
          <a:solidFill>
            <a:srgbClr val="E3F7F5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02268" y="1618488"/>
            <a:ext cx="24003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/alerts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" y="2651760"/>
            <a:ext cx="4937760" cy="566928"/>
          </a:xfrm>
          <a:prstGeom prst="roundRect">
            <a:avLst>
              <a:gd name="adj" fmla="val 12903"/>
            </a:avLst>
          </a:prstGeom>
          <a:solidFill>
            <a:srgbClr val="E3F7F5"/>
          </a:solidFill>
          <a:ln w="12700">
            <a:solidFill>
              <a:srgbClr val="E3F7F5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2807208"/>
            <a:ext cx="2240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/health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337560" y="2816352"/>
            <a:ext cx="2011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and database readiness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3429000"/>
            <a:ext cx="4937760" cy="566928"/>
          </a:xfrm>
          <a:prstGeom prst="roundRect">
            <a:avLst>
              <a:gd name="adj" fmla="val 12903"/>
            </a:avLst>
          </a:prstGeom>
          <a:solidFill>
            <a:srgbClr val="E7F0F6"/>
          </a:solidFill>
          <a:ln w="12700">
            <a:solidFill>
              <a:srgbClr val="E7F0F6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5840" y="3584448"/>
            <a:ext cx="2240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/api/v1/predictions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337560" y="3593592"/>
            <a:ext cx="2011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Idempotent prediction persistence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4206240"/>
            <a:ext cx="4937760" cy="566928"/>
          </a:xfrm>
          <a:prstGeom prst="roundRect">
            <a:avLst>
              <a:gd name="adj" fmla="val 12903"/>
            </a:avLst>
          </a:prstGeom>
          <a:solidFill>
            <a:srgbClr val="FFF5D8"/>
          </a:solidFill>
          <a:ln w="12700">
            <a:solidFill>
              <a:srgbClr val="FFF5D8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5840" y="4361688"/>
            <a:ext cx="2240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/api/v1/alerts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337560" y="4370832"/>
            <a:ext cx="2011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Investigator-facing alert retrieval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46520" y="274320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46520" y="2743200"/>
            <a:ext cx="82296" cy="1143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93408" y="2944368"/>
            <a:ext cx="16459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1,000</a:t>
            </a:r>
            <a:endParaRPr lang="en-US" sz="2700" dirty="0"/>
          </a:p>
        </p:txBody>
      </p:sp>
      <p:sp>
        <p:nvSpPr>
          <p:cNvPr id="29" name="Text 27"/>
          <p:cNvSpPr txBox="1"/>
          <p:nvPr/>
        </p:nvSpPr>
        <p:spPr>
          <a:xfrm>
            <a:off x="6693408" y="3584448"/>
            <a:ext cx="16459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732520" y="274320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32520" y="2743200"/>
            <a:ext cx="82296" cy="114300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979408" y="2944368"/>
            <a:ext cx="16459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1,000</a:t>
            </a:r>
            <a:endParaRPr lang="en-US" sz="2700" dirty="0"/>
          </a:p>
        </p:txBody>
      </p:sp>
      <p:sp>
        <p:nvSpPr>
          <p:cNvPr id="33" name="Text 31"/>
          <p:cNvSpPr txBox="1"/>
          <p:nvPr/>
        </p:nvSpPr>
        <p:spPr>
          <a:xfrm>
            <a:off x="8979408" y="3584448"/>
            <a:ext cx="16459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46520" y="416052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46520" y="4160520"/>
            <a:ext cx="82296" cy="1143000"/>
          </a:xfrm>
          <a:prstGeom prst="rect">
            <a:avLst/>
          </a:prstGeom>
          <a:solidFill>
            <a:srgbClr val="F06C5B"/>
          </a:solidFill>
          <a:ln w="12700">
            <a:solidFill>
              <a:srgbClr val="F06C5B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693408" y="4361688"/>
            <a:ext cx="16459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2700" dirty="0"/>
          </a:p>
        </p:txBody>
      </p:sp>
      <p:sp>
        <p:nvSpPr>
          <p:cNvPr id="37" name="Text 35"/>
          <p:cNvSpPr txBox="1"/>
          <p:nvPr/>
        </p:nvSpPr>
        <p:spPr>
          <a:xfrm>
            <a:off x="6693408" y="5001768"/>
            <a:ext cx="16459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AML alerts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732520" y="416052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732520" y="4160520"/>
            <a:ext cx="82296" cy="1143000"/>
          </a:xfrm>
          <a:prstGeom prst="rect">
            <a:avLst/>
          </a:prstGeom>
          <a:solidFill>
            <a:srgbClr val="1F9D72"/>
          </a:solidFill>
          <a:ln w="12700">
            <a:solidFill>
              <a:srgbClr val="1F9D72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979408" y="4361688"/>
            <a:ext cx="16459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</a:t>
            </a:r>
            <a:endParaRPr lang="en-US" sz="2700" dirty="0"/>
          </a:p>
        </p:txBody>
      </p:sp>
      <p:sp>
        <p:nvSpPr>
          <p:cNvPr id="41" name="Text 39"/>
          <p:cNvSpPr txBox="1"/>
          <p:nvPr/>
        </p:nvSpPr>
        <p:spPr>
          <a:xfrm>
            <a:off x="8979408" y="5001768"/>
            <a:ext cx="16459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health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446520" y="5596128"/>
            <a:ext cx="4206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original payload is retained as JSON for later evidence retrieval.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47472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 /  PHASE 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Neo4j: from alerts to connected financial evidence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19672"/>
            <a:ext cx="5943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BANKING FRAUD PLATFORM  /  REVIEW 2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83096"/>
            <a:ext cx="457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98448"/>
            <a:ext cx="86868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graph representation makes account relationships and transaction paths queryable for investigation.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43000" y="2834640"/>
            <a:ext cx="914400" cy="91440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07008" y="3136392"/>
            <a:ext cx="78638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2834640"/>
            <a:ext cx="914400" cy="91440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36008" y="3136392"/>
            <a:ext cx="78638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01000" y="2834640"/>
            <a:ext cx="914400" cy="91440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65008" y="3136392"/>
            <a:ext cx="78638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57400" y="3291840"/>
            <a:ext cx="251460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486400" y="3291840"/>
            <a:ext cx="251460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 txBox="1"/>
          <p:nvPr/>
        </p:nvSpPr>
        <p:spPr>
          <a:xfrm>
            <a:off x="2971800" y="2880360"/>
            <a:ext cx="731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080760" y="2880360"/>
            <a:ext cx="1234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RECEIVED_BY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829800" y="2011680"/>
            <a:ext cx="1508760" cy="2514600"/>
          </a:xfrm>
          <a:prstGeom prst="roundRect">
            <a:avLst>
              <a:gd name="adj" fmla="val 4848"/>
            </a:avLst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76688" y="2331720"/>
            <a:ext cx="10058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PROPERTIES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104120" y="3154680"/>
            <a:ext cx="96012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amount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023360" y="4892040"/>
            <a:ext cx="2423160" cy="310896"/>
          </a:xfrm>
          <a:prstGeom prst="roundRect">
            <a:avLst>
              <a:gd name="adj" fmla="val 23529"/>
            </a:avLst>
          </a:prstGeom>
          <a:solidFill>
            <a:srgbClr val="E3F7F5"/>
          </a:solidFill>
          <a:ln w="12700">
            <a:solidFill>
              <a:srgbClr val="E3F7F5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096512" y="4960620"/>
            <a:ext cx="227685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MERGE = SAFE TO RE-RUN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2788920" y="5486400"/>
            <a:ext cx="6217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history • counterparties • multi-hop paths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47472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 /  CURRENT ARCHITECTURE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platform flow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19672"/>
            <a:ext cx="5943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BANKING FRAUD PLATFORM  /  REVIEW 2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83096"/>
            <a:ext cx="457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901952"/>
            <a:ext cx="530352" cy="53035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075688"/>
            <a:ext cx="53035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16152" y="2167128"/>
            <a:ext cx="1709928" cy="0"/>
          </a:xfrm>
          <a:prstGeom prst="line">
            <a:avLst/>
          </a:prstGeom>
          <a:noFill/>
          <a:ln w="25400">
            <a:solidFill>
              <a:srgbClr val="D9E5EA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612648" y="278892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5528" y="3035808"/>
            <a:ext cx="14630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AML data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95528" y="3447288"/>
            <a:ext cx="14630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Chunked preprocessing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0" y="1901952"/>
            <a:ext cx="530352" cy="53035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26080" y="2075688"/>
            <a:ext cx="53035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56432" y="2167128"/>
            <a:ext cx="1709928" cy="0"/>
          </a:xfrm>
          <a:prstGeom prst="line">
            <a:avLst/>
          </a:prstGeom>
          <a:noFill/>
          <a:ln w="25400">
            <a:solidFill>
              <a:srgbClr val="D9E5EA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2852928" y="278892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035808" y="3035808"/>
            <a:ext cx="14630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risk score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035808" y="3447288"/>
            <a:ext cx="14630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XGBoost + threshold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66360" y="1901952"/>
            <a:ext cx="530352" cy="53035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66360" y="2075688"/>
            <a:ext cx="53035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96712" y="2167128"/>
            <a:ext cx="1709928" cy="0"/>
          </a:xfrm>
          <a:prstGeom prst="line">
            <a:avLst/>
          </a:prstGeom>
          <a:noFill/>
          <a:ln w="25400">
            <a:solidFill>
              <a:srgbClr val="D9E5EA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5093208" y="278892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76088" y="3035808"/>
            <a:ext cx="14630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event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276088" y="3447288"/>
            <a:ext cx="14630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Redpanda topics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06640" y="1901952"/>
            <a:ext cx="530352" cy="53035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06640" y="2075688"/>
            <a:ext cx="53035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936992" y="2167128"/>
            <a:ext cx="1709928" cy="0"/>
          </a:xfrm>
          <a:prstGeom prst="line">
            <a:avLst/>
          </a:prstGeom>
          <a:noFill/>
          <a:ln w="25400">
            <a:solidFill>
              <a:srgbClr val="D9E5EA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7333488" y="278892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16368" y="3035808"/>
            <a:ext cx="14630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Durable record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516368" y="3447288"/>
            <a:ext cx="14630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+ PostgreSQL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646920" y="1901952"/>
            <a:ext cx="530352" cy="530352"/>
          </a:xfrm>
          <a:prstGeom prst="ellipse">
            <a:avLst/>
          </a:prstGeom>
          <a:solidFill>
            <a:srgbClr val="F06C5B"/>
          </a:solidFill>
          <a:ln w="12700">
            <a:solidFill>
              <a:srgbClr val="F06C5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646920" y="2075688"/>
            <a:ext cx="53035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573768" y="278892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DEAE7"/>
          </a:solidFill>
          <a:ln w="12700">
            <a:solidFill>
              <a:srgbClr val="FDEAE7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756648" y="3035808"/>
            <a:ext cx="14630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Connected evidence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756648" y="3447288"/>
            <a:ext cx="14630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Neo4j graph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14400" y="4892040"/>
            <a:ext cx="10195560" cy="658368"/>
          </a:xfrm>
          <a:prstGeom prst="roundRect">
            <a:avLst>
              <a:gd name="adj" fmla="val 11111"/>
            </a:avLst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143000" y="5102352"/>
            <a:ext cx="9738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  →  SCORE  →  STREAM  →  PERSIST  →  CONNECT  →  INVESTIGATE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47472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 /  VALIDATION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has been verified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19672"/>
            <a:ext cx="5943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BANKING FRAUD PLATFORM  /  REVIEW 2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83096"/>
            <a:ext cx="457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98448"/>
            <a:ext cx="86868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2 is backed by runnable code, automated tests, and live container verification.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205740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221992"/>
            <a:ext cx="10058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2331720"/>
            <a:ext cx="1600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tests passed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34840" y="205740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2221992"/>
            <a:ext cx="10058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1,000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2331720"/>
            <a:ext cx="1600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Kafka records scored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347472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639312"/>
            <a:ext cx="10058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6C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3749040"/>
            <a:ext cx="1600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 alerts stored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434840" y="347472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3639312"/>
            <a:ext cx="10058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872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3749040"/>
            <a:ext cx="1600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Neo4j accounts created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412480" y="2057400"/>
            <a:ext cx="2834640" cy="3246120"/>
          </a:xfrm>
          <a:prstGeom prst="roundRect">
            <a:avLst>
              <a:gd name="adj" fmla="val 2581"/>
            </a:avLst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59952" y="2395728"/>
            <a:ext cx="21031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CHECKLIST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796528" y="2880360"/>
            <a:ext cx="164592" cy="164592"/>
          </a:xfrm>
          <a:prstGeom prst="ellipse">
            <a:avLst/>
          </a:prstGeom>
          <a:solidFill>
            <a:srgbClr val="1F9D72"/>
          </a:solidFill>
          <a:ln w="12700">
            <a:solidFill>
              <a:srgbClr val="1F9D7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098280" y="2862072"/>
            <a:ext cx="1783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health: ready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796528" y="3291840"/>
            <a:ext cx="164592" cy="164592"/>
          </a:xfrm>
          <a:prstGeom prst="ellipse">
            <a:avLst/>
          </a:prstGeom>
          <a:solidFill>
            <a:srgbClr val="1F9D72"/>
          </a:solidFill>
          <a:ln w="12700">
            <a:solidFill>
              <a:srgbClr val="1F9D7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098280" y="3273552"/>
            <a:ext cx="1783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PostgreSQL: connected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796528" y="3703320"/>
            <a:ext cx="164592" cy="164592"/>
          </a:xfrm>
          <a:prstGeom prst="ellipse">
            <a:avLst/>
          </a:prstGeom>
          <a:solidFill>
            <a:srgbClr val="1F9D72"/>
          </a:solidFill>
          <a:ln w="12700">
            <a:solidFill>
              <a:srgbClr val="1F9D7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098280" y="3685032"/>
            <a:ext cx="1783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Neo4j load: 1,000 rows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796528" y="4114800"/>
            <a:ext cx="164592" cy="164592"/>
          </a:xfrm>
          <a:prstGeom prst="ellipse">
            <a:avLst/>
          </a:prstGeom>
          <a:solidFill>
            <a:srgbClr val="1F9D72"/>
          </a:solidFill>
          <a:ln w="12700">
            <a:solidFill>
              <a:srgbClr val="1F9D7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098280" y="4096512"/>
            <a:ext cx="1783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counts: stable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796528" y="4526280"/>
            <a:ext cx="164592" cy="164592"/>
          </a:xfrm>
          <a:prstGeom prst="ellipse">
            <a:avLst/>
          </a:prstGeom>
          <a:solidFill>
            <a:srgbClr val="1F9D72"/>
          </a:solidFill>
          <a:ln w="12700">
            <a:solidFill>
              <a:srgbClr val="1F9D7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098280" y="4507992"/>
            <a:ext cx="1783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 load: no duplicates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47472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 /  RESPONSIBLE ENGINEERING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choices and current limitations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19672"/>
            <a:ext cx="5943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BANKING FRAUD PLATFORM  /  REVIEW 2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83096"/>
            <a:ext cx="457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E3F7F5"/>
          </a:solidFill>
          <a:ln w="12700">
            <a:solidFill>
              <a:srgbClr val="E3F7F5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719072"/>
            <a:ext cx="2560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CHOICES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103120"/>
            <a:ext cx="452628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Identifiers remain strings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files processed in chunks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CPU fallback for inference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Dead-letter path for invalid events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Idempotent database and graph writes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Credentials and raw data excluded from Git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371600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FDEAE7"/>
          </a:solidFill>
          <a:ln w="12700">
            <a:solidFill>
              <a:srgbClr val="FDEAE7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1719072"/>
            <a:ext cx="31089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F06C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 TO DISCLOSE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2103120"/>
            <a:ext cx="452628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0.55 threshold is provisional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lacks device, IP, GPS, and login data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and SHAP explanations are future phases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authentication is not yet implemented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graph is transaction-centered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47472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 /  ROADMAP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remaining 50%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19672"/>
            <a:ext cx="5943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BANKING FRAUD PLATFORM  /  REVIEW 2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83096"/>
            <a:ext cx="457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457200" cy="45720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572768"/>
            <a:ext cx="45720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34440" y="1645920"/>
            <a:ext cx="640080" cy="0"/>
          </a:xfrm>
          <a:prstGeom prst="line">
            <a:avLst/>
          </a:prstGeom>
          <a:noFill/>
          <a:ln w="25400">
            <a:solidFill>
              <a:srgbClr val="D9E5EA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2148840" y="1453896"/>
            <a:ext cx="2286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LangGraph agents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481328"/>
            <a:ext cx="4069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Investigation workflow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2258568"/>
            <a:ext cx="457200" cy="45720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414016"/>
            <a:ext cx="45720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34440" y="2487168"/>
            <a:ext cx="640080" cy="0"/>
          </a:xfrm>
          <a:prstGeom prst="line">
            <a:avLst/>
          </a:prstGeom>
          <a:noFill/>
          <a:ln w="25400">
            <a:solidFill>
              <a:srgbClr val="D9E5EA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 txBox="1"/>
          <p:nvPr/>
        </p:nvSpPr>
        <p:spPr>
          <a:xfrm>
            <a:off x="2148840" y="2295144"/>
            <a:ext cx="2286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tools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322576"/>
            <a:ext cx="4069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Database, graph, history, and model retrieval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" y="3099816"/>
            <a:ext cx="457200" cy="45720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255264"/>
            <a:ext cx="45720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34440" y="3328416"/>
            <a:ext cx="640080" cy="0"/>
          </a:xfrm>
          <a:prstGeom prst="line">
            <a:avLst/>
          </a:prstGeom>
          <a:noFill/>
          <a:ln w="25400">
            <a:solidFill>
              <a:srgbClr val="D9E5EA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 txBox="1"/>
          <p:nvPr/>
        </p:nvSpPr>
        <p:spPr>
          <a:xfrm>
            <a:off x="2148840" y="3136392"/>
            <a:ext cx="2286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 explainability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3163824"/>
            <a:ext cx="4069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Per-alert feature explanations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" y="3941064"/>
            <a:ext cx="457200" cy="45720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096512"/>
            <a:ext cx="45720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234440" y="4169664"/>
            <a:ext cx="640080" cy="0"/>
          </a:xfrm>
          <a:prstGeom prst="line">
            <a:avLst/>
          </a:prstGeom>
          <a:noFill/>
          <a:ln w="25400">
            <a:solidFill>
              <a:srgbClr val="D9E5EA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 txBox="1"/>
          <p:nvPr/>
        </p:nvSpPr>
        <p:spPr>
          <a:xfrm>
            <a:off x="2148840" y="3977640"/>
            <a:ext cx="2286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dashboard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4005072"/>
            <a:ext cx="4069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Investigator monitoring interface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77240" y="4782312"/>
            <a:ext cx="457200" cy="45720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4937760"/>
            <a:ext cx="45720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234440" y="5010912"/>
            <a:ext cx="640080" cy="0"/>
          </a:xfrm>
          <a:prstGeom prst="line">
            <a:avLst/>
          </a:prstGeom>
          <a:noFill/>
          <a:ln w="25400">
            <a:solidFill>
              <a:srgbClr val="D9E5EA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 txBox="1"/>
          <p:nvPr/>
        </p:nvSpPr>
        <p:spPr>
          <a:xfrm>
            <a:off x="2148840" y="4818888"/>
            <a:ext cx="2286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testing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0" y="4846320"/>
            <a:ext cx="4069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26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Human-in-the-loop end-to-end workflow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326880" y="1417320"/>
            <a:ext cx="2057400" cy="4343400"/>
          </a:xfrm>
          <a:prstGeom prst="roundRect">
            <a:avLst>
              <a:gd name="adj" fmla="val 3556"/>
            </a:avLst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692640" y="1874520"/>
            <a:ext cx="13258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MILESTONE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9601200" y="3017520"/>
            <a:ext cx="15087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Evidence-grounded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9601200" y="4617720"/>
            <a:ext cx="15087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C6D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on the data, API, and graph foundations already verified.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"/>
            <a:ext cx="3657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2  /  CONCLUSION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795528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verified foundation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evidence-based AML investigation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2697480"/>
            <a:ext cx="71323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6D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phases complete. The platform now moves from raw data to connected financial evidence.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13232" y="3794760"/>
            <a:ext cx="219456" cy="219456"/>
          </a:xfrm>
          <a:prstGeom prst="ellipse">
            <a:avLst/>
          </a:prstGeom>
          <a:solidFill>
            <a:srgbClr val="1F9D72"/>
          </a:solidFill>
          <a:ln w="12700">
            <a:solidFill>
              <a:srgbClr val="1F9D7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3826764"/>
            <a:ext cx="219456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60704" y="3813048"/>
            <a:ext cx="2057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foundation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27832" y="3794760"/>
            <a:ext cx="219456" cy="219456"/>
          </a:xfrm>
          <a:prstGeom prst="ellipse">
            <a:avLst/>
          </a:prstGeom>
          <a:solidFill>
            <a:srgbClr val="1F9D72"/>
          </a:solidFill>
          <a:ln w="12700">
            <a:solidFill>
              <a:srgbClr val="1F9D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27832" y="3826764"/>
            <a:ext cx="219456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575304" y="3813048"/>
            <a:ext cx="2057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risk scoring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42432" y="3794760"/>
            <a:ext cx="219456" cy="219456"/>
          </a:xfrm>
          <a:prstGeom prst="ellipse">
            <a:avLst/>
          </a:prstGeom>
          <a:solidFill>
            <a:srgbClr val="1F9D72"/>
          </a:solidFill>
          <a:ln w="12700">
            <a:solidFill>
              <a:srgbClr val="1F9D7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42432" y="3826764"/>
            <a:ext cx="219456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089904" y="3813048"/>
            <a:ext cx="2057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streaming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13232" y="4434840"/>
            <a:ext cx="219456" cy="219456"/>
          </a:xfrm>
          <a:prstGeom prst="ellipse">
            <a:avLst/>
          </a:prstGeom>
          <a:solidFill>
            <a:srgbClr val="1F9D72"/>
          </a:solidFill>
          <a:ln w="12700">
            <a:solidFill>
              <a:srgbClr val="1F9D7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4466844"/>
            <a:ext cx="219456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60704" y="4453128"/>
            <a:ext cx="2057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+ PostgreSQL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27832" y="4434840"/>
            <a:ext cx="219456" cy="219456"/>
          </a:xfrm>
          <a:prstGeom prst="ellipse">
            <a:avLst/>
          </a:prstGeom>
          <a:solidFill>
            <a:srgbClr val="1F9D72"/>
          </a:solidFill>
          <a:ln w="12700">
            <a:solidFill>
              <a:srgbClr val="1F9D7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27832" y="4466844"/>
            <a:ext cx="219456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575304" y="4453128"/>
            <a:ext cx="2057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Neo4j financial graph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49640" y="1097280"/>
            <a:ext cx="2697480" cy="3383280"/>
          </a:xfrm>
          <a:prstGeom prst="line">
            <a:avLst/>
          </a:prstGeom>
          <a:noFill/>
          <a:ln w="15240">
            <a:solidFill>
              <a:srgbClr val="5EEAD4"/>
            </a:solidFill>
            <a:prstDash val="dash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829800" y="1874520"/>
            <a:ext cx="1097280" cy="109728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744200" y="2971800"/>
            <a:ext cx="530352" cy="530352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9720" y="4160520"/>
            <a:ext cx="365760" cy="365760"/>
          </a:xfrm>
          <a:prstGeom prst="ellipse">
            <a:avLst/>
          </a:prstGeom>
          <a:solidFill>
            <a:srgbClr val="F06C5B"/>
          </a:solidFill>
          <a:ln w="12700">
            <a:solidFill>
              <a:srgbClr val="F06C5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732520" y="4892040"/>
            <a:ext cx="246888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CONNECT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INVESTIGATE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6172200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6519672"/>
            <a:ext cx="5943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spc="120" kern="0" dirty="0">
                <a:solidFill>
                  <a:srgbClr val="B8D1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BANKING FRAUD PLATFORM  /  REVIEW 2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11201400" y="6483096"/>
            <a:ext cx="457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D1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Agentic Banking Fraud Platform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Platform for Real-Time Banking Fraud Detection</dc:title>
  <dc:subject>Review 2: Phases 1–5</dc:subject>
  <dc:creator>Annam Akash</dc:creator>
  <cp:lastModifiedBy>Annam Akash</cp:lastModifiedBy>
  <cp:revision>1</cp:revision>
  <dcterms:created xsi:type="dcterms:W3CDTF">2026-08-26T05:01:48Z</dcterms:created>
  <dcterms:modified xsi:type="dcterms:W3CDTF">2026-08-26T05:01:48Z</dcterms:modified>
</cp:coreProperties>
</file>